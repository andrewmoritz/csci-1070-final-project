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8" r:id="rId6"/>
    <p:sldId id="269" r:id="rId7"/>
    <p:sldId id="270" r:id="rId8"/>
    <p:sldId id="271" r:id="rId9"/>
    <p:sldId id="262" r:id="rId10"/>
    <p:sldId id="263" r:id="rId11"/>
    <p:sldId id="264" r:id="rId12"/>
    <p:sldId id="272" r:id="rId13"/>
    <p:sldId id="265" r:id="rId14"/>
    <p:sldId id="273"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45"/>
    <p:restoredTop sz="94616"/>
  </p:normalViewPr>
  <p:slideViewPr>
    <p:cSldViewPr snapToGrid="0">
      <p:cViewPr varScale="1">
        <p:scale>
          <a:sx n="114" d="100"/>
          <a:sy n="114" d="100"/>
        </p:scale>
        <p:origin x="200" y="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4/28/26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4/28/26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4/28/26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4/28/26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4/28/26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4/28/26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p:cNvSpPr>
            <a:spLocks noGrp="1"/>
          </p:cNvSpPr>
          <p:nvPr>
            <p:ph type="dt" sz="half" idx="10"/>
          </p:nvPr>
        </p:nvSpPr>
        <p:spPr/>
        <p:txBody>
          <a:bodyPr/>
          <a:lstStyle/>
          <a:p>
            <a:fld id="{3D24A7AC-904D-4781-85BA-7D10C17ED021}" type="datetimeFigureOut">
              <a:rPr lang="en-US" dirty="0"/>
              <a:t>4/28/26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4/28/26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4/28/26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4/28/26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4/28/26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4/28/26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4/28/26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4/28/26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4/28/26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4/28/26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4/28/26</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4/28/26</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8AE9D-515B-2067-DA52-0A61DE7A19DC}"/>
              </a:ext>
            </a:extLst>
          </p:cNvPr>
          <p:cNvSpPr>
            <a:spLocks noGrp="1"/>
          </p:cNvSpPr>
          <p:nvPr>
            <p:ph type="ctrTitle"/>
          </p:nvPr>
        </p:nvSpPr>
        <p:spPr/>
        <p:txBody>
          <a:bodyPr/>
          <a:lstStyle/>
          <a:p>
            <a:r>
              <a:rPr lang="en-US" dirty="0"/>
              <a:t>CSCI 1070 Final Project</a:t>
            </a:r>
          </a:p>
        </p:txBody>
      </p:sp>
      <p:sp>
        <p:nvSpPr>
          <p:cNvPr id="3" name="Subtitle 2">
            <a:extLst>
              <a:ext uri="{FF2B5EF4-FFF2-40B4-BE49-F238E27FC236}">
                <a16:creationId xmlns:a16="http://schemas.microsoft.com/office/drawing/2014/main" id="{4B85B37F-E90E-E339-704D-95E88EC8DB6F}"/>
              </a:ext>
            </a:extLst>
          </p:cNvPr>
          <p:cNvSpPr>
            <a:spLocks noGrp="1"/>
          </p:cNvSpPr>
          <p:nvPr>
            <p:ph type="subTitle" idx="1"/>
          </p:nvPr>
        </p:nvSpPr>
        <p:spPr/>
        <p:txBody>
          <a:bodyPr/>
          <a:lstStyle/>
          <a:p>
            <a:r>
              <a:rPr lang="en-US" dirty="0"/>
              <a:t>Andrew Moritz</a:t>
            </a:r>
          </a:p>
        </p:txBody>
      </p:sp>
    </p:spTree>
    <p:extLst>
      <p:ext uri="{BB962C8B-B14F-4D97-AF65-F5344CB8AC3E}">
        <p14:creationId xmlns:p14="http://schemas.microsoft.com/office/powerpoint/2010/main" val="519750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3018E-0203-0D03-FB11-46129F6BCB21}"/>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6E1FAF25-EB39-07A5-77AC-86DF1C345454}"/>
              </a:ext>
            </a:extLst>
          </p:cNvPr>
          <p:cNvSpPr>
            <a:spLocks noGrp="1"/>
          </p:cNvSpPr>
          <p:nvPr>
            <p:ph idx="1"/>
          </p:nvPr>
        </p:nvSpPr>
        <p:spPr/>
        <p:txBody>
          <a:bodyPr/>
          <a:lstStyle/>
          <a:p>
            <a:r>
              <a:rPr lang="en-US" dirty="0"/>
              <a:t>For my project, I wanted to create a model that would predict if an MLB player is or is not in the hall of fame</a:t>
            </a:r>
          </a:p>
          <a:p>
            <a:r>
              <a:rPr lang="en-US" dirty="0"/>
              <a:t>I started out by creating the model using only retired players and then used the model to predict which active players would be hall of famers if they retired today</a:t>
            </a:r>
          </a:p>
          <a:p>
            <a:pPr marL="0" indent="0">
              <a:buNone/>
            </a:pPr>
            <a:endParaRPr lang="en-US" dirty="0"/>
          </a:p>
        </p:txBody>
      </p:sp>
    </p:spTree>
    <p:extLst>
      <p:ext uri="{BB962C8B-B14F-4D97-AF65-F5344CB8AC3E}">
        <p14:creationId xmlns:p14="http://schemas.microsoft.com/office/powerpoint/2010/main" val="1861765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A2B4-01C2-3F3F-80FE-24F92AAE9644}"/>
              </a:ext>
            </a:extLst>
          </p:cNvPr>
          <p:cNvSpPr>
            <a:spLocks noGrp="1"/>
          </p:cNvSpPr>
          <p:nvPr>
            <p:ph type="title"/>
          </p:nvPr>
        </p:nvSpPr>
        <p:spPr/>
        <p:txBody>
          <a:bodyPr/>
          <a:lstStyle/>
          <a:p>
            <a:r>
              <a:rPr lang="en-US" dirty="0"/>
              <a:t>Understanding the dataset</a:t>
            </a:r>
          </a:p>
        </p:txBody>
      </p:sp>
      <p:sp>
        <p:nvSpPr>
          <p:cNvPr id="3" name="Content Placeholder 2">
            <a:extLst>
              <a:ext uri="{FF2B5EF4-FFF2-40B4-BE49-F238E27FC236}">
                <a16:creationId xmlns:a16="http://schemas.microsoft.com/office/drawing/2014/main" id="{F192FC59-81EF-C666-E4AB-95F1F4E71CCB}"/>
              </a:ext>
            </a:extLst>
          </p:cNvPr>
          <p:cNvSpPr>
            <a:spLocks noGrp="1"/>
          </p:cNvSpPr>
          <p:nvPr>
            <p:ph idx="1"/>
          </p:nvPr>
        </p:nvSpPr>
        <p:spPr/>
        <p:txBody>
          <a:bodyPr/>
          <a:lstStyle/>
          <a:p>
            <a:r>
              <a:rPr lang="en-US" dirty="0"/>
              <a:t>Any MLB hitter active or retired with over 3500 plate appearances (roughly 7 seasons) – 1765 players</a:t>
            </a:r>
          </a:p>
          <a:p>
            <a:r>
              <a:rPr lang="en-US" dirty="0"/>
              <a:t>Predicted variable – </a:t>
            </a:r>
            <a:r>
              <a:rPr lang="en-US" dirty="0" err="1"/>
              <a:t>HOF_status</a:t>
            </a:r>
            <a:r>
              <a:rPr lang="en-US" dirty="0"/>
              <a:t> – is a player active, in the hall of fame (HOF) or not in the hall of fame (</a:t>
            </a:r>
            <a:r>
              <a:rPr lang="en-US" dirty="0" err="1"/>
              <a:t>not_HOF</a:t>
            </a:r>
            <a:r>
              <a:rPr lang="en-US" dirty="0"/>
              <a:t>)</a:t>
            </a:r>
          </a:p>
          <a:p>
            <a:r>
              <a:rPr lang="en-US" dirty="0"/>
              <a:t>Data set was split into to different data frames, one for active players and one for retired players</a:t>
            </a:r>
          </a:p>
          <a:p>
            <a:endParaRPr lang="en-US" dirty="0"/>
          </a:p>
        </p:txBody>
      </p:sp>
    </p:spTree>
    <p:extLst>
      <p:ext uri="{BB962C8B-B14F-4D97-AF65-F5344CB8AC3E}">
        <p14:creationId xmlns:p14="http://schemas.microsoft.com/office/powerpoint/2010/main" val="1175258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AFE41-2ED9-2C2A-2C1F-B168FBC8D6EB}"/>
              </a:ext>
            </a:extLst>
          </p:cNvPr>
          <p:cNvSpPr>
            <a:spLocks noGrp="1"/>
          </p:cNvSpPr>
          <p:nvPr>
            <p:ph type="title"/>
          </p:nvPr>
        </p:nvSpPr>
        <p:spPr/>
        <p:txBody>
          <a:bodyPr/>
          <a:lstStyle/>
          <a:p>
            <a:r>
              <a:rPr lang="en-US" dirty="0"/>
              <a:t>Understanding the dataset - variables</a:t>
            </a:r>
          </a:p>
        </p:txBody>
      </p:sp>
      <p:sp>
        <p:nvSpPr>
          <p:cNvPr id="3" name="Content Placeholder 2">
            <a:extLst>
              <a:ext uri="{FF2B5EF4-FFF2-40B4-BE49-F238E27FC236}">
                <a16:creationId xmlns:a16="http://schemas.microsoft.com/office/drawing/2014/main" id="{F5A47BE8-5AC2-369C-5773-4740E49294C7}"/>
              </a:ext>
            </a:extLst>
          </p:cNvPr>
          <p:cNvSpPr>
            <a:spLocks noGrp="1"/>
          </p:cNvSpPr>
          <p:nvPr>
            <p:ph idx="1"/>
          </p:nvPr>
        </p:nvSpPr>
        <p:spPr>
          <a:xfrm>
            <a:off x="680321" y="2102068"/>
            <a:ext cx="9613861" cy="4477407"/>
          </a:xfrm>
        </p:spPr>
        <p:txBody>
          <a:bodyPr>
            <a:normAutofit fontScale="85000" lnSpcReduction="20000"/>
          </a:bodyPr>
          <a:lstStyle/>
          <a:p>
            <a:r>
              <a:rPr lang="en-US" dirty="0"/>
              <a:t>G -- games played </a:t>
            </a:r>
          </a:p>
          <a:p>
            <a:r>
              <a:rPr lang="en-US" dirty="0"/>
              <a:t>PA -- plate appearances </a:t>
            </a:r>
          </a:p>
          <a:p>
            <a:r>
              <a:rPr lang="en-US" dirty="0"/>
              <a:t>HR -- Homeruns </a:t>
            </a:r>
          </a:p>
          <a:p>
            <a:r>
              <a:rPr lang="en-US" dirty="0"/>
              <a:t>R – Runs</a:t>
            </a:r>
          </a:p>
          <a:p>
            <a:r>
              <a:rPr lang="en-US" dirty="0"/>
              <a:t> RBI -- Runs Batted in </a:t>
            </a:r>
          </a:p>
          <a:p>
            <a:r>
              <a:rPr lang="en-US" dirty="0"/>
              <a:t>SB -- stolen bases </a:t>
            </a:r>
          </a:p>
          <a:p>
            <a:r>
              <a:rPr lang="en-US" dirty="0"/>
              <a:t>AVG -- batting average </a:t>
            </a:r>
          </a:p>
          <a:p>
            <a:r>
              <a:rPr lang="en-US" dirty="0"/>
              <a:t>OBP -- on base percentage </a:t>
            </a:r>
          </a:p>
          <a:p>
            <a:r>
              <a:rPr lang="en-US" dirty="0"/>
              <a:t>SLG -- Slugging percentage </a:t>
            </a:r>
          </a:p>
          <a:p>
            <a:r>
              <a:rPr lang="en-US" dirty="0" err="1"/>
              <a:t>wRC</a:t>
            </a:r>
            <a:r>
              <a:rPr lang="en-US" dirty="0"/>
              <a:t>+ -- Weighted runs created </a:t>
            </a:r>
          </a:p>
          <a:p>
            <a:r>
              <a:rPr lang="en-US" dirty="0"/>
              <a:t>Off -- Offensive Value </a:t>
            </a:r>
          </a:p>
          <a:p>
            <a:r>
              <a:rPr lang="en-US" dirty="0"/>
              <a:t>Def -- Defensive value </a:t>
            </a:r>
          </a:p>
          <a:p>
            <a:r>
              <a:rPr lang="en-US" dirty="0"/>
              <a:t>WAR -- Wins above replacement</a:t>
            </a:r>
          </a:p>
        </p:txBody>
      </p:sp>
    </p:spTree>
    <p:extLst>
      <p:ext uri="{BB962C8B-B14F-4D97-AF65-F5344CB8AC3E}">
        <p14:creationId xmlns:p14="http://schemas.microsoft.com/office/powerpoint/2010/main" val="2419883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B17E9-737D-65DF-0C76-0BEBC2EF8F42}"/>
              </a:ext>
            </a:extLst>
          </p:cNvPr>
          <p:cNvSpPr>
            <a:spLocks noGrp="1"/>
          </p:cNvSpPr>
          <p:nvPr>
            <p:ph type="title"/>
          </p:nvPr>
        </p:nvSpPr>
        <p:spPr/>
        <p:txBody>
          <a:bodyPr/>
          <a:lstStyle/>
          <a:p>
            <a:r>
              <a:rPr lang="en-US" dirty="0"/>
              <a:t>Data cleaning</a:t>
            </a:r>
          </a:p>
        </p:txBody>
      </p:sp>
      <p:sp>
        <p:nvSpPr>
          <p:cNvPr id="3" name="Content Placeholder 2">
            <a:extLst>
              <a:ext uri="{FF2B5EF4-FFF2-40B4-BE49-F238E27FC236}">
                <a16:creationId xmlns:a16="http://schemas.microsoft.com/office/drawing/2014/main" id="{7DB08A2F-3453-0C80-27CD-2FB6A154DFDA}"/>
              </a:ext>
            </a:extLst>
          </p:cNvPr>
          <p:cNvSpPr>
            <a:spLocks noGrp="1"/>
          </p:cNvSpPr>
          <p:nvPr>
            <p:ph idx="1"/>
          </p:nvPr>
        </p:nvSpPr>
        <p:spPr/>
        <p:txBody>
          <a:bodyPr>
            <a:normAutofit/>
          </a:bodyPr>
          <a:lstStyle/>
          <a:p>
            <a:r>
              <a:rPr lang="en-US" dirty="0"/>
              <a:t>Sorted into two separate data frames</a:t>
            </a:r>
          </a:p>
          <a:p>
            <a:r>
              <a:rPr lang="en-US" dirty="0"/>
              <a:t>Dropped the name column</a:t>
            </a:r>
          </a:p>
          <a:p>
            <a:r>
              <a:rPr lang="en-US" dirty="0"/>
              <a:t>Converted </a:t>
            </a:r>
            <a:r>
              <a:rPr lang="en-US" dirty="0" err="1"/>
              <a:t>HOF_status</a:t>
            </a:r>
            <a:r>
              <a:rPr lang="en-US" dirty="0"/>
              <a:t> into a binary </a:t>
            </a:r>
          </a:p>
          <a:p>
            <a:pPr lvl="1"/>
            <a:r>
              <a:rPr lang="en-US" dirty="0"/>
              <a:t>1 = HOF</a:t>
            </a:r>
          </a:p>
          <a:p>
            <a:pPr lvl="1"/>
            <a:r>
              <a:rPr lang="en-US" dirty="0"/>
              <a:t>0 = </a:t>
            </a:r>
            <a:r>
              <a:rPr lang="en-US" dirty="0" err="1"/>
              <a:t>not_HOF</a:t>
            </a:r>
            <a:endParaRPr lang="en-US" dirty="0"/>
          </a:p>
          <a:p>
            <a:r>
              <a:rPr lang="en-US" dirty="0"/>
              <a:t>Dropped SB, DEF and G as they were other lowly correlated with </a:t>
            </a:r>
            <a:r>
              <a:rPr lang="en-US" dirty="0" err="1"/>
              <a:t>HOF_status</a:t>
            </a:r>
            <a:r>
              <a:rPr lang="en-US" dirty="0"/>
              <a:t> or had multicollinearity</a:t>
            </a:r>
          </a:p>
          <a:p>
            <a:pPr marL="0" indent="0">
              <a:buNone/>
            </a:pPr>
            <a:endParaRPr lang="en-US" dirty="0"/>
          </a:p>
          <a:p>
            <a:pPr lvl="1"/>
            <a:endParaRPr lang="en-US" dirty="0"/>
          </a:p>
          <a:p>
            <a:pPr marL="457200" lvl="1" indent="0">
              <a:buNone/>
            </a:pPr>
            <a:endParaRPr lang="en-US" dirty="0"/>
          </a:p>
          <a:p>
            <a:endParaRPr lang="en-US" dirty="0"/>
          </a:p>
        </p:txBody>
      </p:sp>
    </p:spTree>
    <p:extLst>
      <p:ext uri="{BB962C8B-B14F-4D97-AF65-F5344CB8AC3E}">
        <p14:creationId xmlns:p14="http://schemas.microsoft.com/office/powerpoint/2010/main" val="3401177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78AE2E5E-A1DF-1984-D3D9-98D8FC613ACD}"/>
              </a:ext>
            </a:extLst>
          </p:cNvPr>
          <p:cNvPicPr>
            <a:picLocks noChangeAspect="1"/>
          </p:cNvPicPr>
          <p:nvPr/>
        </p:nvPicPr>
        <p:blipFill>
          <a:blip r:embed="rId2"/>
          <a:stretch>
            <a:fillRect/>
          </a:stretch>
        </p:blipFill>
        <p:spPr>
          <a:xfrm>
            <a:off x="915143" y="281949"/>
            <a:ext cx="5908737" cy="3885642"/>
          </a:xfrm>
          <a:prstGeom prst="rect">
            <a:avLst/>
          </a:prstGeom>
        </p:spPr>
      </p:pic>
      <p:pic>
        <p:nvPicPr>
          <p:cNvPr id="3" name="Picture 2">
            <a:extLst>
              <a:ext uri="{FF2B5EF4-FFF2-40B4-BE49-F238E27FC236}">
                <a16:creationId xmlns:a16="http://schemas.microsoft.com/office/drawing/2014/main" id="{0290774D-E916-5ABD-3BD6-5417EE6ECC63}"/>
              </a:ext>
            </a:extLst>
          </p:cNvPr>
          <p:cNvPicPr>
            <a:picLocks noChangeAspect="1"/>
          </p:cNvPicPr>
          <p:nvPr/>
        </p:nvPicPr>
        <p:blipFill>
          <a:blip r:embed="rId3"/>
          <a:stretch>
            <a:fillRect/>
          </a:stretch>
        </p:blipFill>
        <p:spPr>
          <a:xfrm>
            <a:off x="3908818" y="4399967"/>
            <a:ext cx="7772400" cy="2359936"/>
          </a:xfrm>
          <a:prstGeom prst="rect">
            <a:avLst/>
          </a:prstGeom>
        </p:spPr>
      </p:pic>
    </p:spTree>
    <p:extLst>
      <p:ext uri="{BB962C8B-B14F-4D97-AF65-F5344CB8AC3E}">
        <p14:creationId xmlns:p14="http://schemas.microsoft.com/office/powerpoint/2010/main" val="3712331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40D838F1-90BF-8437-B415-F47334F685A1}"/>
              </a:ext>
            </a:extLst>
          </p:cNvPr>
          <p:cNvPicPr>
            <a:picLocks noChangeAspect="1"/>
          </p:cNvPicPr>
          <p:nvPr/>
        </p:nvPicPr>
        <p:blipFill>
          <a:blip r:embed="rId2"/>
          <a:stretch>
            <a:fillRect/>
          </a:stretch>
        </p:blipFill>
        <p:spPr>
          <a:xfrm>
            <a:off x="640669" y="1337480"/>
            <a:ext cx="11128251" cy="4451301"/>
          </a:xfrm>
          <a:prstGeom prst="rect">
            <a:avLst/>
          </a:prstGeom>
        </p:spPr>
      </p:pic>
    </p:spTree>
    <p:extLst>
      <p:ext uri="{BB962C8B-B14F-4D97-AF65-F5344CB8AC3E}">
        <p14:creationId xmlns:p14="http://schemas.microsoft.com/office/powerpoint/2010/main" val="2250928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8">
            <a:extLst>
              <a:ext uri="{FF2B5EF4-FFF2-40B4-BE49-F238E27FC236}">
                <a16:creationId xmlns:a16="http://schemas.microsoft.com/office/drawing/2014/main" id="{714BC909-A81C-18EB-BC41-6A337FE0B833}"/>
              </a:ext>
            </a:extLst>
          </p:cNvPr>
          <p:cNvPicPr>
            <a:picLocks noChangeAspect="1"/>
          </p:cNvPicPr>
          <p:nvPr/>
        </p:nvPicPr>
        <p:blipFill>
          <a:blip r:embed="rId2"/>
          <a:stretch>
            <a:fillRect/>
          </a:stretch>
        </p:blipFill>
        <p:spPr>
          <a:xfrm>
            <a:off x="242601" y="139512"/>
            <a:ext cx="7632157" cy="3539016"/>
          </a:xfrm>
          <a:prstGeom prst="rect">
            <a:avLst/>
          </a:prstGeom>
        </p:spPr>
      </p:pic>
      <p:pic>
        <p:nvPicPr>
          <p:cNvPr id="2" name="Picture 1">
            <a:extLst>
              <a:ext uri="{FF2B5EF4-FFF2-40B4-BE49-F238E27FC236}">
                <a16:creationId xmlns:a16="http://schemas.microsoft.com/office/drawing/2014/main" id="{F667FFC7-5B26-D864-09AE-38C3C6B1641B}"/>
              </a:ext>
            </a:extLst>
          </p:cNvPr>
          <p:cNvPicPr>
            <a:picLocks noChangeAspect="1"/>
          </p:cNvPicPr>
          <p:nvPr/>
        </p:nvPicPr>
        <p:blipFill>
          <a:blip r:embed="rId3"/>
          <a:stretch>
            <a:fillRect/>
          </a:stretch>
        </p:blipFill>
        <p:spPr>
          <a:xfrm>
            <a:off x="5166815" y="2580565"/>
            <a:ext cx="6553200" cy="3962400"/>
          </a:xfrm>
          <a:prstGeom prst="rect">
            <a:avLst/>
          </a:prstGeom>
        </p:spPr>
      </p:pic>
    </p:spTree>
    <p:extLst>
      <p:ext uri="{BB962C8B-B14F-4D97-AF65-F5344CB8AC3E}">
        <p14:creationId xmlns:p14="http://schemas.microsoft.com/office/powerpoint/2010/main" val="2821471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B4F50-0246-A09B-F315-D7468240A9C3}"/>
              </a:ext>
            </a:extLst>
          </p:cNvPr>
          <p:cNvSpPr>
            <a:spLocks noGrp="1"/>
          </p:cNvSpPr>
          <p:nvPr>
            <p:ph type="title"/>
          </p:nvPr>
        </p:nvSpPr>
        <p:spPr/>
        <p:txBody>
          <a:bodyPr/>
          <a:lstStyle/>
          <a:p>
            <a:r>
              <a:rPr lang="en-US" dirty="0"/>
              <a:t>Model 1: Logistic Regression</a:t>
            </a:r>
          </a:p>
        </p:txBody>
      </p:sp>
      <p:pic>
        <p:nvPicPr>
          <p:cNvPr id="14" name="Content Placeholder 13">
            <a:extLst>
              <a:ext uri="{FF2B5EF4-FFF2-40B4-BE49-F238E27FC236}">
                <a16:creationId xmlns:a16="http://schemas.microsoft.com/office/drawing/2014/main" id="{1915D674-72EE-D825-817F-23EAF6AB4ADD}"/>
              </a:ext>
            </a:extLst>
          </p:cNvPr>
          <p:cNvPicPr>
            <a:picLocks noGrp="1" noChangeAspect="1"/>
          </p:cNvPicPr>
          <p:nvPr>
            <p:ph idx="1"/>
          </p:nvPr>
        </p:nvPicPr>
        <p:blipFill>
          <a:blip r:embed="rId2"/>
          <a:stretch>
            <a:fillRect/>
          </a:stretch>
        </p:blipFill>
        <p:spPr>
          <a:xfrm>
            <a:off x="0" y="1902386"/>
            <a:ext cx="4154877" cy="3923730"/>
          </a:xfrm>
          <a:prstGeom prst="rect">
            <a:avLst/>
          </a:prstGeom>
        </p:spPr>
      </p:pic>
      <p:pic>
        <p:nvPicPr>
          <p:cNvPr id="15" name="Picture 14">
            <a:extLst>
              <a:ext uri="{FF2B5EF4-FFF2-40B4-BE49-F238E27FC236}">
                <a16:creationId xmlns:a16="http://schemas.microsoft.com/office/drawing/2014/main" id="{3F943E2D-90F8-A235-26A6-EC180BFCC8B2}"/>
              </a:ext>
            </a:extLst>
          </p:cNvPr>
          <p:cNvPicPr>
            <a:picLocks noChangeAspect="1"/>
          </p:cNvPicPr>
          <p:nvPr/>
        </p:nvPicPr>
        <p:blipFill>
          <a:blip r:embed="rId3"/>
          <a:stretch>
            <a:fillRect/>
          </a:stretch>
        </p:blipFill>
        <p:spPr>
          <a:xfrm>
            <a:off x="6884555" y="1902386"/>
            <a:ext cx="5307445" cy="4955614"/>
          </a:xfrm>
          <a:prstGeom prst="rect">
            <a:avLst/>
          </a:prstGeom>
        </p:spPr>
      </p:pic>
      <p:pic>
        <p:nvPicPr>
          <p:cNvPr id="16" name="Picture 15">
            <a:extLst>
              <a:ext uri="{FF2B5EF4-FFF2-40B4-BE49-F238E27FC236}">
                <a16:creationId xmlns:a16="http://schemas.microsoft.com/office/drawing/2014/main" id="{C06FCE7C-3F9F-2B3D-8BF1-5E69E03A496D}"/>
              </a:ext>
            </a:extLst>
          </p:cNvPr>
          <p:cNvPicPr>
            <a:picLocks noChangeAspect="1"/>
          </p:cNvPicPr>
          <p:nvPr/>
        </p:nvPicPr>
        <p:blipFill>
          <a:blip r:embed="rId4"/>
          <a:stretch>
            <a:fillRect/>
          </a:stretch>
        </p:blipFill>
        <p:spPr>
          <a:xfrm>
            <a:off x="3987295" y="3254783"/>
            <a:ext cx="3064842" cy="1904071"/>
          </a:xfrm>
          <a:prstGeom prst="rect">
            <a:avLst/>
          </a:prstGeom>
        </p:spPr>
      </p:pic>
    </p:spTree>
    <p:extLst>
      <p:ext uri="{BB962C8B-B14F-4D97-AF65-F5344CB8AC3E}">
        <p14:creationId xmlns:p14="http://schemas.microsoft.com/office/powerpoint/2010/main" val="3996093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EC75C-3C43-37F1-6589-8D18D63A0EFA}"/>
              </a:ext>
            </a:extLst>
          </p:cNvPr>
          <p:cNvSpPr>
            <a:spLocks noGrp="1"/>
          </p:cNvSpPr>
          <p:nvPr>
            <p:ph type="title"/>
          </p:nvPr>
        </p:nvSpPr>
        <p:spPr/>
        <p:txBody>
          <a:bodyPr/>
          <a:lstStyle/>
          <a:p>
            <a:r>
              <a:rPr lang="en-US" dirty="0"/>
              <a:t>Model 2: Decision Tree</a:t>
            </a:r>
          </a:p>
        </p:txBody>
      </p:sp>
      <p:pic>
        <p:nvPicPr>
          <p:cNvPr id="4" name="Content Placeholder 3">
            <a:extLst>
              <a:ext uri="{FF2B5EF4-FFF2-40B4-BE49-F238E27FC236}">
                <a16:creationId xmlns:a16="http://schemas.microsoft.com/office/drawing/2014/main" id="{1981CB96-411C-2BAC-DA21-3FCFD21AC5A7}"/>
              </a:ext>
            </a:extLst>
          </p:cNvPr>
          <p:cNvPicPr>
            <a:picLocks noGrp="1" noChangeAspect="1"/>
          </p:cNvPicPr>
          <p:nvPr>
            <p:ph idx="1"/>
          </p:nvPr>
        </p:nvPicPr>
        <p:blipFill>
          <a:blip r:embed="rId2"/>
          <a:stretch>
            <a:fillRect/>
          </a:stretch>
        </p:blipFill>
        <p:spPr>
          <a:xfrm>
            <a:off x="5581934" y="1954663"/>
            <a:ext cx="5840066" cy="4903337"/>
          </a:xfrm>
          <a:prstGeom prst="rect">
            <a:avLst/>
          </a:prstGeom>
        </p:spPr>
      </p:pic>
      <p:pic>
        <p:nvPicPr>
          <p:cNvPr id="6" name="Picture 5">
            <a:extLst>
              <a:ext uri="{FF2B5EF4-FFF2-40B4-BE49-F238E27FC236}">
                <a16:creationId xmlns:a16="http://schemas.microsoft.com/office/drawing/2014/main" id="{64578C6B-64E7-9A4C-411C-F052B16FA869}"/>
              </a:ext>
            </a:extLst>
          </p:cNvPr>
          <p:cNvPicPr>
            <a:picLocks noChangeAspect="1"/>
          </p:cNvPicPr>
          <p:nvPr/>
        </p:nvPicPr>
        <p:blipFill>
          <a:blip r:embed="rId3"/>
          <a:stretch>
            <a:fillRect/>
          </a:stretch>
        </p:blipFill>
        <p:spPr>
          <a:xfrm>
            <a:off x="921686" y="4423789"/>
            <a:ext cx="2654300" cy="1498600"/>
          </a:xfrm>
          <a:prstGeom prst="rect">
            <a:avLst/>
          </a:prstGeom>
        </p:spPr>
      </p:pic>
      <p:pic>
        <p:nvPicPr>
          <p:cNvPr id="7" name="Picture 6">
            <a:extLst>
              <a:ext uri="{FF2B5EF4-FFF2-40B4-BE49-F238E27FC236}">
                <a16:creationId xmlns:a16="http://schemas.microsoft.com/office/drawing/2014/main" id="{B2D74A16-9CBE-4C90-A0B4-883CAD7E081D}"/>
              </a:ext>
            </a:extLst>
          </p:cNvPr>
          <p:cNvPicPr>
            <a:picLocks noChangeAspect="1"/>
          </p:cNvPicPr>
          <p:nvPr/>
        </p:nvPicPr>
        <p:blipFill>
          <a:blip r:embed="rId4"/>
          <a:stretch>
            <a:fillRect/>
          </a:stretch>
        </p:blipFill>
        <p:spPr>
          <a:xfrm>
            <a:off x="211169" y="2254721"/>
            <a:ext cx="5276082" cy="1748513"/>
          </a:xfrm>
          <a:prstGeom prst="rect">
            <a:avLst/>
          </a:prstGeom>
        </p:spPr>
      </p:pic>
    </p:spTree>
    <p:extLst>
      <p:ext uri="{BB962C8B-B14F-4D97-AF65-F5344CB8AC3E}">
        <p14:creationId xmlns:p14="http://schemas.microsoft.com/office/powerpoint/2010/main" val="2279828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0043D-5FA9-BD26-38A0-E73A0419E87E}"/>
              </a:ext>
            </a:extLst>
          </p:cNvPr>
          <p:cNvSpPr>
            <a:spLocks noGrp="1"/>
          </p:cNvSpPr>
          <p:nvPr>
            <p:ph type="title"/>
          </p:nvPr>
        </p:nvSpPr>
        <p:spPr/>
        <p:txBody>
          <a:bodyPr/>
          <a:lstStyle/>
          <a:p>
            <a:r>
              <a:rPr lang="en-US" dirty="0"/>
              <a:t>Application to active players</a:t>
            </a:r>
          </a:p>
        </p:txBody>
      </p:sp>
      <p:pic>
        <p:nvPicPr>
          <p:cNvPr id="4" name="Content Placeholder 8">
            <a:extLst>
              <a:ext uri="{FF2B5EF4-FFF2-40B4-BE49-F238E27FC236}">
                <a16:creationId xmlns:a16="http://schemas.microsoft.com/office/drawing/2014/main" id="{1AE4437C-E0CD-81C6-4EB8-3813C8C9DDE2}"/>
              </a:ext>
            </a:extLst>
          </p:cNvPr>
          <p:cNvPicPr>
            <a:picLocks noGrp="1" noChangeAspect="1"/>
          </p:cNvPicPr>
          <p:nvPr>
            <p:ph idx="1"/>
          </p:nvPr>
        </p:nvPicPr>
        <p:blipFill>
          <a:blip r:embed="rId2"/>
          <a:stretch>
            <a:fillRect/>
          </a:stretch>
        </p:blipFill>
        <p:spPr>
          <a:xfrm>
            <a:off x="4764776" y="2254913"/>
            <a:ext cx="5989391" cy="3968466"/>
          </a:xfrm>
          <a:prstGeom prst="rect">
            <a:avLst/>
          </a:prstGeom>
        </p:spPr>
      </p:pic>
      <p:sp>
        <p:nvSpPr>
          <p:cNvPr id="5" name="TextBox 4">
            <a:extLst>
              <a:ext uri="{FF2B5EF4-FFF2-40B4-BE49-F238E27FC236}">
                <a16:creationId xmlns:a16="http://schemas.microsoft.com/office/drawing/2014/main" id="{EACD2C2A-3AA1-5209-4F16-B3EF3F105D59}"/>
              </a:ext>
            </a:extLst>
          </p:cNvPr>
          <p:cNvSpPr txBox="1"/>
          <p:nvPr/>
        </p:nvSpPr>
        <p:spPr>
          <a:xfrm>
            <a:off x="491320" y="2101753"/>
            <a:ext cx="3193576" cy="3139321"/>
          </a:xfrm>
          <a:prstGeom prst="rect">
            <a:avLst/>
          </a:prstGeom>
          <a:noFill/>
        </p:spPr>
        <p:txBody>
          <a:bodyPr wrap="square" rtlCol="0">
            <a:spAutoFit/>
          </a:bodyPr>
          <a:lstStyle/>
          <a:p>
            <a:pPr marL="285750" indent="-285750">
              <a:buFont typeface="Arial" panose="020B0604020202020204" pitchFamily="34" charset="0"/>
              <a:buChar char="•"/>
            </a:pPr>
            <a:r>
              <a:rPr lang="en-US" dirty="0"/>
              <a:t>Similar data cleaning and preprocessing to HOF data frame</a:t>
            </a:r>
          </a:p>
          <a:p>
            <a:pPr marL="285750" indent="-285750">
              <a:buFont typeface="Arial" panose="020B0604020202020204" pitchFamily="34" charset="0"/>
              <a:buChar char="•"/>
            </a:pPr>
            <a:r>
              <a:rPr lang="en-US" dirty="0"/>
              <a:t>Used the logistic regression model as it had a higher recall</a:t>
            </a:r>
          </a:p>
          <a:p>
            <a:pPr marL="285750" indent="-285750">
              <a:buFont typeface="Arial" panose="020B0604020202020204" pitchFamily="34" charset="0"/>
              <a:buChar char="•"/>
            </a:pPr>
            <a:r>
              <a:rPr lang="en-US" dirty="0"/>
              <a:t>Used the model to both predict and give the probability that an active player would be a hall of famer </a:t>
            </a:r>
          </a:p>
        </p:txBody>
      </p:sp>
    </p:spTree>
    <p:extLst>
      <p:ext uri="{BB962C8B-B14F-4D97-AF65-F5344CB8AC3E}">
        <p14:creationId xmlns:p14="http://schemas.microsoft.com/office/powerpoint/2010/main" val="2275316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9DCA218-7CA9-5FE7-A531-7D90BCF0B65E}"/>
              </a:ext>
            </a:extLst>
          </p:cNvPr>
          <p:cNvPicPr>
            <a:picLocks noChangeAspect="1"/>
          </p:cNvPicPr>
          <p:nvPr/>
        </p:nvPicPr>
        <p:blipFill>
          <a:blip r:embed="rId2"/>
          <a:stretch>
            <a:fillRect/>
          </a:stretch>
        </p:blipFill>
        <p:spPr>
          <a:xfrm>
            <a:off x="1705970" y="257937"/>
            <a:ext cx="7874758" cy="6442985"/>
          </a:xfrm>
          <a:prstGeom prst="rect">
            <a:avLst/>
          </a:prstGeom>
        </p:spPr>
      </p:pic>
    </p:spTree>
    <p:extLst>
      <p:ext uri="{BB962C8B-B14F-4D97-AF65-F5344CB8AC3E}">
        <p14:creationId xmlns:p14="http://schemas.microsoft.com/office/powerpoint/2010/main" val="2063724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80B90-6D05-F819-0321-576408855C8C}"/>
              </a:ext>
            </a:extLst>
          </p:cNvPr>
          <p:cNvSpPr>
            <a:spLocks noGrp="1"/>
          </p:cNvSpPr>
          <p:nvPr>
            <p:ph type="title"/>
          </p:nvPr>
        </p:nvSpPr>
        <p:spPr/>
        <p:txBody>
          <a:bodyPr/>
          <a:lstStyle/>
          <a:p>
            <a:r>
              <a:rPr lang="en-US" dirty="0"/>
              <a:t>How did our model do</a:t>
            </a:r>
          </a:p>
        </p:txBody>
      </p:sp>
      <p:sp>
        <p:nvSpPr>
          <p:cNvPr id="3" name="Content Placeholder 2">
            <a:extLst>
              <a:ext uri="{FF2B5EF4-FFF2-40B4-BE49-F238E27FC236}">
                <a16:creationId xmlns:a16="http://schemas.microsoft.com/office/drawing/2014/main" id="{E64D86EF-7740-E6A0-9D88-9E26DC4FD56E}"/>
              </a:ext>
            </a:extLst>
          </p:cNvPr>
          <p:cNvSpPr>
            <a:spLocks noGrp="1"/>
          </p:cNvSpPr>
          <p:nvPr>
            <p:ph idx="1"/>
          </p:nvPr>
        </p:nvSpPr>
        <p:spPr/>
        <p:txBody>
          <a:bodyPr>
            <a:normAutofit fontScale="92500" lnSpcReduction="10000"/>
          </a:bodyPr>
          <a:lstStyle/>
          <a:p>
            <a:r>
              <a:rPr lang="en-US" dirty="0"/>
              <a:t>Overall, our model I think did good job of predicting which active players would be hall of famers if they retired today</a:t>
            </a:r>
          </a:p>
          <a:p>
            <a:r>
              <a:rPr lang="en-US" dirty="0"/>
              <a:t>However, there are a few interesting omissions as well as few players who would not be regarded as hall of fame players, most of which could potentially be attributed to insufficient data</a:t>
            </a:r>
          </a:p>
          <a:p>
            <a:r>
              <a:rPr lang="en-US" dirty="0"/>
              <a:t>In the next slide I will use baseball reference’s hall of fame monitor to as a comparison for our model</a:t>
            </a:r>
          </a:p>
          <a:p>
            <a:r>
              <a:rPr lang="en-US" dirty="0"/>
              <a:t>The hall of fame monitor is an algorithm that  “attempts to assess how likely (not how deserving) an active player is to make the Hall of Fame. Using its rough scale, 100 means a good possibility and 130 is a virtual cinch” –Baseball Reference</a:t>
            </a:r>
          </a:p>
        </p:txBody>
      </p:sp>
    </p:spTree>
    <p:extLst>
      <p:ext uri="{BB962C8B-B14F-4D97-AF65-F5344CB8AC3E}">
        <p14:creationId xmlns:p14="http://schemas.microsoft.com/office/powerpoint/2010/main" val="1420470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6039C-3DD0-04B0-6F2D-D0C49C26D8C6}"/>
              </a:ext>
            </a:extLst>
          </p:cNvPr>
          <p:cNvSpPr>
            <a:spLocks noGrp="1"/>
          </p:cNvSpPr>
          <p:nvPr>
            <p:ph type="title"/>
          </p:nvPr>
        </p:nvSpPr>
        <p:spPr/>
        <p:txBody>
          <a:bodyPr/>
          <a:lstStyle/>
          <a:p>
            <a:r>
              <a:rPr lang="en-US" dirty="0"/>
              <a:t>Notable observations</a:t>
            </a:r>
          </a:p>
        </p:txBody>
      </p:sp>
      <p:sp>
        <p:nvSpPr>
          <p:cNvPr id="3" name="Text Placeholder 2">
            <a:extLst>
              <a:ext uri="{FF2B5EF4-FFF2-40B4-BE49-F238E27FC236}">
                <a16:creationId xmlns:a16="http://schemas.microsoft.com/office/drawing/2014/main" id="{1F870561-12F7-A321-8EE8-DE14054A686A}"/>
              </a:ext>
            </a:extLst>
          </p:cNvPr>
          <p:cNvSpPr>
            <a:spLocks noGrp="1"/>
          </p:cNvSpPr>
          <p:nvPr>
            <p:ph type="body" idx="1"/>
          </p:nvPr>
        </p:nvSpPr>
        <p:spPr>
          <a:xfrm>
            <a:off x="368491" y="2336873"/>
            <a:ext cx="3587534" cy="576262"/>
          </a:xfrm>
        </p:spPr>
        <p:txBody>
          <a:bodyPr/>
          <a:lstStyle/>
          <a:p>
            <a:r>
              <a:rPr lang="en-US" dirty="0"/>
              <a:t>Comparable predictions</a:t>
            </a:r>
          </a:p>
        </p:txBody>
      </p:sp>
      <p:sp>
        <p:nvSpPr>
          <p:cNvPr id="4" name="Text Placeholder 3">
            <a:extLst>
              <a:ext uri="{FF2B5EF4-FFF2-40B4-BE49-F238E27FC236}">
                <a16:creationId xmlns:a16="http://schemas.microsoft.com/office/drawing/2014/main" id="{DD25AF96-8938-9F4F-02A2-D73965FA83A2}"/>
              </a:ext>
            </a:extLst>
          </p:cNvPr>
          <p:cNvSpPr>
            <a:spLocks noGrp="1"/>
          </p:cNvSpPr>
          <p:nvPr>
            <p:ph type="body" sz="half" idx="15"/>
          </p:nvPr>
        </p:nvSpPr>
        <p:spPr>
          <a:xfrm>
            <a:off x="680322" y="3022673"/>
            <a:ext cx="3049702" cy="2913513"/>
          </a:xfrm>
        </p:spPr>
        <p:txBody>
          <a:bodyPr>
            <a:normAutofit/>
          </a:bodyPr>
          <a:lstStyle/>
          <a:p>
            <a:pPr marL="285750" indent="-285750">
              <a:buFont typeface="Arial" panose="020B0604020202020204" pitchFamily="34" charset="0"/>
              <a:buChar char="•"/>
            </a:pPr>
            <a:r>
              <a:rPr lang="en-US" dirty="0"/>
              <a:t>Mike Trout (155 HOF monitor)</a:t>
            </a:r>
          </a:p>
          <a:p>
            <a:pPr marL="285750" indent="-285750">
              <a:buFont typeface="Arial" panose="020B0604020202020204" pitchFamily="34" charset="0"/>
              <a:buChar char="•"/>
            </a:pPr>
            <a:r>
              <a:rPr lang="en-US" dirty="0"/>
              <a:t>Freddie Freeman(129)</a:t>
            </a:r>
          </a:p>
          <a:p>
            <a:pPr marL="285750" indent="-285750">
              <a:buFont typeface="Arial" panose="020B0604020202020204" pitchFamily="34" charset="0"/>
              <a:buChar char="•"/>
            </a:pPr>
            <a:r>
              <a:rPr lang="en-US" dirty="0"/>
              <a:t>Jose Altuve (185)</a:t>
            </a:r>
          </a:p>
          <a:p>
            <a:pPr marL="285750" indent="-285750">
              <a:buFont typeface="Arial" panose="020B0604020202020204" pitchFamily="34" charset="0"/>
              <a:buChar char="•"/>
            </a:pPr>
            <a:r>
              <a:rPr lang="en-US" dirty="0"/>
              <a:t>Nolan Arenado (122)</a:t>
            </a:r>
          </a:p>
          <a:p>
            <a:pPr marL="285750" indent="-285750">
              <a:buFont typeface="Arial" panose="020B0604020202020204" pitchFamily="34" charset="0"/>
              <a:buChar char="•"/>
            </a:pPr>
            <a:r>
              <a:rPr lang="en-US" dirty="0"/>
              <a:t>Mookie Betts (122)</a:t>
            </a:r>
          </a:p>
          <a:p>
            <a:pPr marL="285750" indent="-285750">
              <a:buFont typeface="Arial" panose="020B0604020202020204" pitchFamily="34" charset="0"/>
              <a:buChar char="•"/>
            </a:pPr>
            <a:r>
              <a:rPr lang="en-US" dirty="0"/>
              <a:t>FPaul Goldschmidt (109)</a:t>
            </a:r>
          </a:p>
        </p:txBody>
      </p:sp>
      <p:sp>
        <p:nvSpPr>
          <p:cNvPr id="5" name="Text Placeholder 4">
            <a:extLst>
              <a:ext uri="{FF2B5EF4-FFF2-40B4-BE49-F238E27FC236}">
                <a16:creationId xmlns:a16="http://schemas.microsoft.com/office/drawing/2014/main" id="{31AAD542-322D-A804-2A78-64F118EAD0DE}"/>
              </a:ext>
            </a:extLst>
          </p:cNvPr>
          <p:cNvSpPr>
            <a:spLocks noGrp="1"/>
          </p:cNvSpPr>
          <p:nvPr>
            <p:ph type="body" sz="quarter" idx="3"/>
          </p:nvPr>
        </p:nvSpPr>
        <p:spPr/>
        <p:txBody>
          <a:bodyPr/>
          <a:lstStyle/>
          <a:p>
            <a:r>
              <a:rPr lang="en-US" dirty="0"/>
              <a:t>Model says yes, HOF monitor says no</a:t>
            </a:r>
          </a:p>
        </p:txBody>
      </p:sp>
      <p:sp>
        <p:nvSpPr>
          <p:cNvPr id="6" name="Text Placeholder 5">
            <a:extLst>
              <a:ext uri="{FF2B5EF4-FFF2-40B4-BE49-F238E27FC236}">
                <a16:creationId xmlns:a16="http://schemas.microsoft.com/office/drawing/2014/main" id="{EC420565-43AC-9C89-60A9-01C402DDD9C7}"/>
              </a:ext>
            </a:extLst>
          </p:cNvPr>
          <p:cNvSpPr>
            <a:spLocks noGrp="1"/>
          </p:cNvSpPr>
          <p:nvPr>
            <p:ph type="body" sz="half" idx="16"/>
          </p:nvPr>
        </p:nvSpPr>
        <p:spPr/>
        <p:txBody>
          <a:bodyPr/>
          <a:lstStyle/>
          <a:p>
            <a:pPr marL="285750" indent="-285750">
              <a:buFont typeface="Arial" panose="020B0604020202020204" pitchFamily="34" charset="0"/>
              <a:buChar char="•"/>
            </a:pPr>
            <a:r>
              <a:rPr lang="en-US" dirty="0"/>
              <a:t>Jose Ramirez (82)</a:t>
            </a:r>
          </a:p>
          <a:p>
            <a:pPr marL="285750" indent="-285750">
              <a:buFont typeface="Arial" panose="020B0604020202020204" pitchFamily="34" charset="0"/>
              <a:buChar char="•"/>
            </a:pPr>
            <a:r>
              <a:rPr lang="en-US" dirty="0"/>
              <a:t>Xander Bogaerts (65)</a:t>
            </a:r>
          </a:p>
          <a:p>
            <a:pPr marL="285750" indent="-285750">
              <a:buFont typeface="Arial" panose="020B0604020202020204" pitchFamily="34" charset="0"/>
              <a:buChar char="•"/>
            </a:pPr>
            <a:r>
              <a:rPr lang="en-US" dirty="0"/>
              <a:t>Andrew McCutchen (50)</a:t>
            </a:r>
          </a:p>
          <a:p>
            <a:pPr marL="285750" indent="-285750">
              <a:buFont typeface="Arial" panose="020B0604020202020204" pitchFamily="34" charset="0"/>
              <a:buChar char="•"/>
            </a:pPr>
            <a:r>
              <a:rPr lang="en-US" dirty="0"/>
              <a:t>Trea Turner (67)</a:t>
            </a:r>
          </a:p>
          <a:p>
            <a:pPr marL="285750" indent="-285750">
              <a:buFont typeface="Arial" panose="020B0604020202020204" pitchFamily="34" charset="0"/>
              <a:buChar char="•"/>
            </a:pPr>
            <a:r>
              <a:rPr lang="en-US" dirty="0"/>
              <a:t>Fransico Lindor (69)</a:t>
            </a:r>
          </a:p>
          <a:p>
            <a:pPr marL="285750" indent="-285750">
              <a:buFont typeface="Arial" panose="020B0604020202020204" pitchFamily="34" charset="0"/>
              <a:buChar char="•"/>
            </a:pPr>
            <a:r>
              <a:rPr lang="en-US" dirty="0"/>
              <a:t>Manny Machado (72)</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7" name="Text Placeholder 6">
            <a:extLst>
              <a:ext uri="{FF2B5EF4-FFF2-40B4-BE49-F238E27FC236}">
                <a16:creationId xmlns:a16="http://schemas.microsoft.com/office/drawing/2014/main" id="{826A1D2D-09F1-75E3-F18B-F37C0F0BF914}"/>
              </a:ext>
            </a:extLst>
          </p:cNvPr>
          <p:cNvSpPr>
            <a:spLocks noGrp="1"/>
          </p:cNvSpPr>
          <p:nvPr>
            <p:ph type="body" sz="quarter" idx="13"/>
          </p:nvPr>
        </p:nvSpPr>
        <p:spPr/>
        <p:txBody>
          <a:bodyPr/>
          <a:lstStyle/>
          <a:p>
            <a:r>
              <a:rPr lang="en-US" dirty="0"/>
              <a:t>Model says no, HOF monitor says yes</a:t>
            </a:r>
          </a:p>
        </p:txBody>
      </p:sp>
      <p:sp>
        <p:nvSpPr>
          <p:cNvPr id="8" name="Text Placeholder 7">
            <a:extLst>
              <a:ext uri="{FF2B5EF4-FFF2-40B4-BE49-F238E27FC236}">
                <a16:creationId xmlns:a16="http://schemas.microsoft.com/office/drawing/2014/main" id="{EE165E91-5B71-6065-480C-EC793D3DEEE6}"/>
              </a:ext>
            </a:extLst>
          </p:cNvPr>
          <p:cNvSpPr>
            <a:spLocks noGrp="1"/>
          </p:cNvSpPr>
          <p:nvPr>
            <p:ph type="body" sz="half" idx="17"/>
          </p:nvPr>
        </p:nvSpPr>
        <p:spPr/>
        <p:txBody>
          <a:bodyPr/>
          <a:lstStyle/>
          <a:p>
            <a:pPr marL="285750" indent="-285750">
              <a:buFont typeface="Arial" panose="020B0604020202020204" pitchFamily="34" charset="0"/>
              <a:buChar char="•"/>
            </a:pPr>
            <a:r>
              <a:rPr lang="en-US" dirty="0"/>
              <a:t>Aaron Judge (164)</a:t>
            </a:r>
          </a:p>
          <a:p>
            <a:pPr marL="285750" indent="-285750">
              <a:buFont typeface="Arial" panose="020B0604020202020204" pitchFamily="34" charset="0"/>
              <a:buChar char="•"/>
            </a:pPr>
            <a:r>
              <a:rPr lang="en-US" dirty="0"/>
              <a:t>Shohei Ohtani (124)</a:t>
            </a:r>
          </a:p>
          <a:p>
            <a:endParaRPr lang="en-US" dirty="0"/>
          </a:p>
        </p:txBody>
      </p:sp>
    </p:spTree>
    <p:extLst>
      <p:ext uri="{BB962C8B-B14F-4D97-AF65-F5344CB8AC3E}">
        <p14:creationId xmlns:p14="http://schemas.microsoft.com/office/powerpoint/2010/main" val="2262732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F330E-AE64-D535-6478-31D92CE4DF62}"/>
              </a:ext>
            </a:extLst>
          </p:cNvPr>
          <p:cNvSpPr>
            <a:spLocks noGrp="1"/>
          </p:cNvSpPr>
          <p:nvPr>
            <p:ph type="title"/>
          </p:nvPr>
        </p:nvSpPr>
        <p:spPr/>
        <p:txBody>
          <a:bodyPr/>
          <a:lstStyle/>
          <a:p>
            <a:r>
              <a:rPr lang="en-US" dirty="0"/>
              <a:t>Reasons for inconsistencies and final thoughts</a:t>
            </a:r>
          </a:p>
        </p:txBody>
      </p:sp>
      <p:sp>
        <p:nvSpPr>
          <p:cNvPr id="3" name="Content Placeholder 2">
            <a:extLst>
              <a:ext uri="{FF2B5EF4-FFF2-40B4-BE49-F238E27FC236}">
                <a16:creationId xmlns:a16="http://schemas.microsoft.com/office/drawing/2014/main" id="{24603CBA-9684-332A-57AF-17E65C711ACE}"/>
              </a:ext>
            </a:extLst>
          </p:cNvPr>
          <p:cNvSpPr>
            <a:spLocks noGrp="1"/>
          </p:cNvSpPr>
          <p:nvPr>
            <p:ph idx="1"/>
          </p:nvPr>
        </p:nvSpPr>
        <p:spPr/>
        <p:txBody>
          <a:bodyPr/>
          <a:lstStyle/>
          <a:p>
            <a:r>
              <a:rPr lang="en-US" dirty="0"/>
              <a:t>Model was intentionally created to be more liberal in deciding if a player would be a hall of famer</a:t>
            </a:r>
          </a:p>
          <a:p>
            <a:r>
              <a:rPr lang="en-US" dirty="0"/>
              <a:t>No account taken for awards, all star appearances, world series, </a:t>
            </a:r>
            <a:r>
              <a:rPr lang="en-US" dirty="0" err="1"/>
              <a:t>etc</a:t>
            </a:r>
            <a:endParaRPr lang="en-US" dirty="0"/>
          </a:p>
          <a:p>
            <a:r>
              <a:rPr lang="en-US" dirty="0"/>
              <a:t>More data would most likely lead to a more accurate model, but overall I would say our model did a good job</a:t>
            </a:r>
          </a:p>
        </p:txBody>
      </p:sp>
    </p:spTree>
    <p:extLst>
      <p:ext uri="{BB962C8B-B14F-4D97-AF65-F5344CB8AC3E}">
        <p14:creationId xmlns:p14="http://schemas.microsoft.com/office/powerpoint/2010/main" val="2302972421"/>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Berlin</Template>
  <TotalTime>104</TotalTime>
  <Words>584</Words>
  <Application>Microsoft Macintosh PowerPoint</Application>
  <PresentationFormat>Widescreen</PresentationFormat>
  <Paragraphs>65</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Trebuchet MS</vt:lpstr>
      <vt:lpstr>Berlin</vt:lpstr>
      <vt:lpstr>CSCI 1070 Final Project</vt:lpstr>
      <vt:lpstr>Overview</vt:lpstr>
      <vt:lpstr>Understanding the dataset</vt:lpstr>
      <vt:lpstr>Understanding the dataset - variables</vt:lpstr>
      <vt:lpstr>Data cleaning</vt:lpstr>
      <vt:lpstr>PowerPoint Presentation</vt:lpstr>
      <vt:lpstr>PowerPoint Presentation</vt:lpstr>
      <vt:lpstr>PowerPoint Presentation</vt:lpstr>
      <vt:lpstr>Model 1: Logistic Regression</vt:lpstr>
      <vt:lpstr>Model 2: Decision Tree</vt:lpstr>
      <vt:lpstr>Application to active players</vt:lpstr>
      <vt:lpstr>PowerPoint Presentation</vt:lpstr>
      <vt:lpstr>How did our model do</vt:lpstr>
      <vt:lpstr>Notable observations</vt:lpstr>
      <vt:lpstr>Reasons for inconsistencies and final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Moritz</dc:creator>
  <cp:lastModifiedBy>Andrew Moritz</cp:lastModifiedBy>
  <cp:revision>2</cp:revision>
  <dcterms:created xsi:type="dcterms:W3CDTF">2026-04-29T03:16:49Z</dcterms:created>
  <dcterms:modified xsi:type="dcterms:W3CDTF">2026-04-29T05:01:10Z</dcterms:modified>
</cp:coreProperties>
</file>